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b9ec93cee14180" /><Relationship Type="http://schemas.openxmlformats.org/officeDocument/2006/relationships/extended-properties" Target="/docProps/app.xml" Id="Rfc7d93f6dda64372" /><Relationship Type="http://schemas.openxmlformats.org/officeDocument/2006/relationships/officeDocument" Target="/ppt/presentation.xml" Id="R9510f2f985244e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3d69c11d24e36"/>
  </p:sldMasterIdLst>
  <p:notesMasterIdLst>
    <p:notesMasterId xmlns:r="http://schemas.openxmlformats.org/officeDocument/2006/relationships" r:id="R6f1f21f19fc5418a"/>
  </p:notesMasterIdLst>
  <p:sldIdLst>
    <p:sldId xmlns:r="http://schemas.openxmlformats.org/officeDocument/2006/relationships" id="256" r:id="R535ab432656c49cf"/>
    <p:sldId xmlns:r="http://schemas.openxmlformats.org/officeDocument/2006/relationships" id="257" r:id="R682dfa5db7d74e93"/>
    <p:sldId xmlns:r="http://schemas.openxmlformats.org/officeDocument/2006/relationships" id="258" r:id="R4ad59c3b6d764d59"/>
    <p:sldId xmlns:r="http://schemas.openxmlformats.org/officeDocument/2006/relationships" id="259" r:id="Ra1a58741f78d4b50"/>
    <p:sldId xmlns:r="http://schemas.openxmlformats.org/officeDocument/2006/relationships" id="260" r:id="R4351c5109a2c42c8"/>
    <p:sldId xmlns:r="http://schemas.openxmlformats.org/officeDocument/2006/relationships" id="261" r:id="R0be6de7cf48f4ab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ad764499e640b1" /><Relationship Type="http://schemas.openxmlformats.org/officeDocument/2006/relationships/slideMaster" Target="/ppt/slideMasters/slideMaster1.xml" Id="Rae93d69c11d24e36" /><Relationship Type="http://schemas.openxmlformats.org/officeDocument/2006/relationships/notesMaster" Target="/ppt/notesMasters/notesMaster1.xml" Id="R6f1f21f19fc5418a" /><Relationship Type="http://schemas.openxmlformats.org/officeDocument/2006/relationships/presProps" Target="/ppt/presProps.xml" Id="R04956ade8f294e89" /><Relationship Type="http://schemas.openxmlformats.org/officeDocument/2006/relationships/tableStyles" Target="/ppt/tableStyles.xml" Id="R7b55c5acecbe470c" /><Relationship Type="http://schemas.openxmlformats.org/officeDocument/2006/relationships/slide" Target="/ppt/slides/slide1.xml" Id="R535ab432656c49cf" /><Relationship Type="http://schemas.openxmlformats.org/officeDocument/2006/relationships/slide" Target="/ppt/slides/slide2.xml" Id="R682dfa5db7d74e93" /><Relationship Type="http://schemas.openxmlformats.org/officeDocument/2006/relationships/slide" Target="/ppt/slides/slide3.xml" Id="R4ad59c3b6d764d59" /><Relationship Type="http://schemas.openxmlformats.org/officeDocument/2006/relationships/slide" Target="/ppt/slides/slide4.xml" Id="Ra1a58741f78d4b50" /><Relationship Type="http://schemas.openxmlformats.org/officeDocument/2006/relationships/slide" Target="/ppt/slides/slide5.xml" Id="R4351c5109a2c42c8" /><Relationship Type="http://schemas.openxmlformats.org/officeDocument/2006/relationships/slide" Target="/ppt/slides/slide6.xml" Id="R0be6de7cf48f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06d74100a74c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3452ba9fd44b1" /><Relationship Type="http://schemas.openxmlformats.org/officeDocument/2006/relationships/notesMaster" Target="/ppt/notesMasters/notesMaster1.xml" Id="R9b7b859124204c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d0dc7d53d14bf7" /><Relationship Type="http://schemas.openxmlformats.org/officeDocument/2006/relationships/notesMaster" Target="/ppt/notesMasters/notesMaster1.xml" Id="R45d0d360a20949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3bfd41b2e497c" /><Relationship Type="http://schemas.openxmlformats.org/officeDocument/2006/relationships/notesMaster" Target="/ppt/notesMasters/notesMaster1.xml" Id="Rcdf06fa315b8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70c52ba0764283" /><Relationship Type="http://schemas.openxmlformats.org/officeDocument/2006/relationships/notesMaster" Target="/ppt/notesMasters/notesMaster1.xml" Id="R5ab5e9f7fa4a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1c941d0a0a4984" /><Relationship Type="http://schemas.openxmlformats.org/officeDocument/2006/relationships/notesMaster" Target="/ppt/notesMasters/notesMaster1.xml" Id="R7f658edd0814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3ac5431286408d" /><Relationship Type="http://schemas.openxmlformats.org/officeDocument/2006/relationships/notesMaster" Target="/ppt/notesMasters/notesMaster1.xml" Id="R21eaaa8e4214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0bcd731b24f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9f0d4cf764a07" /><Relationship Type="http://schemas.openxmlformats.org/officeDocument/2006/relationships/slideLayout" Target="/ppt/slideLayouts/slideLayout1.xml" Id="Rd06ac281aa7b48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6ac281aa7b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7d0aaa65d4afb" /><Relationship Type="http://schemas.openxmlformats.org/officeDocument/2006/relationships/notesSlide" Target="/ppt/notesSlides/notesSlide1.xml" Id="R6e0c4742b14e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7623b703d4421" /><Relationship Type="http://schemas.openxmlformats.org/officeDocument/2006/relationships/image" Target="/ppt/media/image.jpeg" Id="Rd3fd4e372e794c21" /><Relationship Type="http://schemas.openxmlformats.org/officeDocument/2006/relationships/image" Target="/ppt/media/image2.jpeg" Id="R1aac6532f5164999" /><Relationship Type="http://schemas.openxmlformats.org/officeDocument/2006/relationships/notesSlide" Target="/ppt/notesSlides/notesSlide2.xml" Id="Rd87667135011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0aea7bc09438d" /><Relationship Type="http://schemas.openxmlformats.org/officeDocument/2006/relationships/image" Target="/ppt/media/image3.jpeg" Id="R4ae3952eacd14b13" /><Relationship Type="http://schemas.openxmlformats.org/officeDocument/2006/relationships/notesSlide" Target="/ppt/notesSlides/notesSlide3.xml" Id="R9f792a1e8040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055f488a54ad8" /><Relationship Type="http://schemas.openxmlformats.org/officeDocument/2006/relationships/image" Target="/ppt/media/image4.jpeg" Id="R6a19526b02c64024" /><Relationship Type="http://schemas.openxmlformats.org/officeDocument/2006/relationships/notesSlide" Target="/ppt/notesSlides/notesSlide4.xml" Id="R5f937d71028c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4e68b92694d68" /><Relationship Type="http://schemas.openxmlformats.org/officeDocument/2006/relationships/notesSlide" Target="/ppt/notesSlides/notesSlide5.xml" Id="R1ae27a511ab1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7fd3e4112423b" /><Relationship Type="http://schemas.openxmlformats.org/officeDocument/2006/relationships/image" Target="/ppt/media/image.png" Id="R604da43f104c4641" /><Relationship Type="http://schemas.openxmlformats.org/officeDocument/2006/relationships/notesSlide" Target="/ppt/notesSlides/notesSlide6.xml" Id="Re2857916d62144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9B9C9-45B0-48FF-B388-718B691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1181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Plant Disease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AAA1-D235-4B68-9408-D9EB4A7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Plant disease recognition in field images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2B1E0-DFD4-4A53-B728-C434A7A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Intelligent Systems Course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B93C6-1538-493C-8E5B-881266B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Master's degree in Computer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014EE-2370-4CEE-8F0F-2351FD8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72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A.Y. 2025 /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4FD1-37B3-474A-B9EF-DA0F0F1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001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UNIVERSITÀ DI PISA</a:t>
            </a:r>
          </a:p>
        </p:txBody>
      </p:sp>
    </p:spTree>
    <p:extLst>
      <p:ext uri="{BB962C8B-B14F-4D97-AF65-F5344CB8AC3E}">
        <p14:creationId xmlns:p14="http://schemas.microsoft.com/office/powerpoint/2010/main" val="247496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9B9C9-45B0-48FF-B388-718B691C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AAA1-D235-4B68-9408-D9EB4A7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1257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Disease classification and localization in non-ideal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2B1E0-DFD4-4A53-B728-C434A7A0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Ideal images show one clear leaf with good lighting and little background clutter.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B93C6-1538-493C-8E5B-881266B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Field images add shadows, clutter, occlusion, scale changes and multiple leaves.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014EE-2370-4CEE-8F0F-2351FD8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304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We expect classification and localization performance to decrease in non-ideal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4FD1-37B3-474A-B9EF-DA0F0F1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IDEAL CONDITIONS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CLEAR LEAF IMAGE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d4e372e794c21"/>
          <a:stretch xmlns:a="http://schemas.openxmlformats.org/drawingml/2006/main"/>
        </p:blipFill>
        <p:spPr>
          <a:xfrm xmlns:a="http://schemas.openxmlformats.org/drawingml/2006/main">
            <a:off x="2000250" y="466725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B98AE-52E8-4F29-9224-506661C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57875"/>
            <a:ext cx="11430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6E470-3505-4FAA-9AD8-13CE515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NON-IDEAL CONDITIONS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FIELD IMAGE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c6532f5164999"/>
          <a:srcRect xmlns:a="http://schemas.openxmlformats.org/drawingml/2006/main" l="296" t="0" r="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4667250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DBBEC-496C-4D1C-A589-2BAC18D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E3321-9BFB-4AC5-9F3D-53D679E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CEFDB-9CF8-4DC4-83D1-8F07403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496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3C86B-ADEE-42E8-A4D3-5E7AAA2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Machine Learning Tasks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3952eacd14b13"/>
          <a:stretch xmlns:a="http://schemas.openxmlformats.org/drawingml/2006/main"/>
        </p:blipFill>
        <p:spPr>
          <a:xfrm xmlns:a="http://schemas.openxmlformats.org/drawingml/2006/main">
            <a:off x="833438" y="3105150"/>
            <a:ext cx="2143125" cy="2143125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3C56B-7241-4041-BB27-8F43D721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INPUT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LEAF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283FD-5809-4642-A4D4-762EC2E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56548-73A4-45EE-BC76-73274D8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2619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4778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C7BC-E30E-43E3-96DB-D88473B3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2895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1 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70122-AE07-4342-84D9-AA30675B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33800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Identify the crop-disease category shown in the image.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FE8E3-D648-4EDA-8E4E-2B3F0F1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20396-AD96-41F0-A812-E5C48E0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619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2D328-E308-47C4-9A70-5D01EF5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2390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2  LOCALIZATION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E4D92-2A5E-422D-85E3-CCA1CD0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33800"/>
            <a:ext cx="2352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Identify the regions affected by the disease.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4A03E-FF4D-4DEC-B22F-ECA08366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810000"/>
            <a:ext cx="809625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9525">
            <a:solidFill>
              <a:srgbClr val="005B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BC4DC-5406-496F-A153-A004D7F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857500"/>
            <a:ext cx="23336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AF0DE"/>
          </a:solidFill>
          <a:ln xmlns:a="http://schemas.openxmlformats.org/drawingml/2006/main" w="14288">
            <a:solidFill>
              <a:srgbClr val="C88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E61B-AD7E-41D2-B474-DFCE80EF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028950"/>
            <a:ext cx="2105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C88B2A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C88B2A"/>
                </a:solidFill>
                <a:latin typeface="Calibri"/>
                <a:ea typeface="Calibri"/>
                <a:cs typeface="Calibri"/>
              </a:rPr>
              <a:t>3  ROBUSTNESS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9FFCA-3FAE-4A30-B266-6AE21DA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3733800"/>
            <a:ext cx="2066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Compare performance in controlled and field conditions.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3CB1F-9BB6-4A7C-9772-4175342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2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4292A-77D0-4D21-82B1-2D4741C7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72200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The project combines disease recognition, affected-region localization and condition-based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8A5E0-E25E-4012-9CC9-7F874B94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3FE8A-2F69-40C6-BA57-E77F66A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06DBB-F964-4650-B5C4-3AD60DC9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9042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73FCF-A42F-4C6D-8DD7-59E78D0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Datasets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1EC7E-43BD-43E2-A791-FE77A2B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Two datasets represent the image conditions considered in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BE702-A136-41F1-97F1-E7FC3E0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Each dataset has a different role in the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BD3F-543D-4F6F-8C83-84D13EE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PLANTVILLAGE - CONTROLLED IMAGES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Single leaves on simple backgrounds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Purpose: classification in ideal conditions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7441-6192-41F3-AEF5-8B550E1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PLANTSEG - FIELD IMAGES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Leaves photographed in realistic scenes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Purpose: classification and localization in non-ideal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AA3A6-1BF0-4899-BCFA-EFC85AD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CONDITION COMPARISON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Classifier performance in controlled and field 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A29ED-BD60-4D9B-97EA-5776114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436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LOCALIZATION DATA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PlantSeg masks identify affected regions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9526b02c64024"/>
          <a:srcRect xmlns:a="http://schemas.openxmlformats.org/drawingml/2006/main" l="8878" t="0" r="88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0221" y="1952625"/>
            <a:ext cx="5827059" cy="4953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694E-6768-4D4C-949A-AC420C2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7000875"/>
            <a:ext cx="5810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53697-D215-406A-9DE0-8AFFEED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1247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59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Together, the datasets support classification, localization and robustness.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10614-28B0-4124-BFD3-DF74582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8FC8D-7BB3-4E74-BDE6-2CE7455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B41E4-34CF-44A4-BA4E-80D284A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9893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91331-991B-4DB8-84C6-FE62EF7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30906-48B7-4088-BA7F-11CC647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Classification identifies the disease; localization identifies the affected regions.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D74AE-D3B6-465A-871A-FF398F0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39654-05FC-4359-AD3D-1D016E8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 /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1A35D-4DE6-493C-8853-5434F86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A1D66-F085-4FE6-8287-41257E4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09800"/>
            <a:ext cx="596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PURPOSE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1291-6466-4E02-B9EF-78EA01BC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419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046D7-BB35-4487-A510-C45B5B6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EE8FC-4E37-4E43-BE56-B8A966DB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AD083-DA9C-44DC-968A-8D9BF67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2647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97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CLASSIFICATION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EfficientNetB0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MobileNetV2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FAB87-6536-414A-9F8B-CC7FCC8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2039-32BD-445B-9363-E0B2479B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588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Recognize crop-disease categories in controlled and field images.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9EB35-1782-4FB1-BDBC-FA774FB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A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5EEB6-2998-4311-8EE2-D10E0A6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3886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Disease label and prediction confidence.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0721E-A651-4D89-BF04-40F497C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1D823-449B-467B-8FD4-ACDBDC02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2647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974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LOCALIZATION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YOLO11n-seg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Grad-CAM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071A-10B0-425C-B2BC-5AD8827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619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CBFEE-B195-48F2-B580-0B0258B7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62400"/>
            <a:ext cx="588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Identify visible symptoms and the regions used by the classifiers.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C4B36-C111-48B2-B39F-F82B155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52850"/>
            <a:ext cx="419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14288">
            <a:solidFill>
              <a:srgbClr val="C7D2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D0368-BF9D-4397-9E0B-586E3F46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62400"/>
            <a:ext cx="3886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Lesion mask and attention heatmap.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9AE51-74DF-4313-96BC-567A010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960AD4-47EE-4BE7-929A-1309B92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9DBC5-74F7-4EEB-90D1-EE814D9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37700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73FCF-A42F-4C6D-8DD7-59E78D0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4050" b="1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Robustness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1EC7E-43BD-43E2-A791-FE77A2B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Robustness checks cover controlled image changes and natural field conditions.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BE702-A136-41F1-97F1-E7FC3E0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526164"/>
                </a:solidFill>
                <a:latin typeface="Calibri"/>
                <a:ea typeface="Calibri"/>
                <a:cs typeface="Calibri"/>
              </a:rPr>
              <a:t>Each condition is compared with a clear reference 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7BD3F-543D-4F6F-8C83-84D13EE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CONTROLLED VARIANTS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7785B"/>
                </a:solidFill>
                <a:latin typeface="Calibri"/>
                <a:ea typeface="Calibri"/>
                <a:cs typeface="Calibri"/>
              </a:rPr>
              <a:t>Low light, blur and sensor noise applied to a reference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67441-6192-41F3-AEF5-8B550E1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FIELD CONDITIONS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A9483B"/>
                </a:solidFill>
                <a:latin typeface="Calibri"/>
                <a:ea typeface="Calibri"/>
                <a:cs typeface="Calibri"/>
              </a:rPr>
              <a:t>Clutter, shadows, occlusion and variable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AA3A6-1BF0-4899-BCFA-EFC85AD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WHAT WE COMPARE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Accuracy, confidence and prediction 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A29ED-BD60-4D9B-97EA-57761146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436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580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GOAL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72426"/>
                </a:solidFill>
                <a:latin typeface="Calibri"/>
                <a:ea typeface="Calibri"/>
                <a:cs typeface="Calibri"/>
              </a:rPr>
              <a:t>Identify the conditions associated with the largest performance drop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694E-6768-4D4C-949A-AC420C2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7000875"/>
            <a:ext cx="5810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53697-D215-406A-9DE0-8AFFEED9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1247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5B88"/>
                </a:solidFill>
                <a:latin typeface="Calibri"/>
                <a:ea typeface="Calibri"/>
                <a:cs typeface="Calibri"/>
              </a:rPr>
              <a:t>Code-generated examples from the same PlantVillage image.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10614-28B0-4124-BFD3-DF74582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58150"/>
            <a:ext cx="1524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88"/>
          </a:solidFill>
          <a:ln xmlns:a="http://schemas.openxmlformats.org/drawingml/2006/main" w="14288">
            <a:solidFill>
              <a:srgbClr val="005B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8FC8D-7BB3-4E74-BDE6-2CE7455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143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Plant Disease Assistant  |  Intelligent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B41E4-34CF-44A4-BA4E-80D284A8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8153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da43f104c4641"/>
          <a:stretch xmlns:a="http://schemas.openxmlformats.org/drawingml/2006/main"/>
        </p:blipFill>
        <p:spPr>
          <a:xfrm xmlns:a="http://schemas.openxmlformats.org/drawingml/2006/main">
            <a:off x="8082446" y="1952625"/>
            <a:ext cx="5742609" cy="49530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93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2026-07-13T10:33:59.4790000Z</dcterms:created>
  <dcterms:modified xsi:type="dcterms:W3CDTF">2026-07-13T10:33:59.4790000Z</dcterms:modified>
</coreProperties>
</file>