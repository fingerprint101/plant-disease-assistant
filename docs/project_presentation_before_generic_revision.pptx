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916f860acf4879" /><Relationship Type="http://schemas.openxmlformats.org/officeDocument/2006/relationships/extended-properties" Target="/docProps/app.xml" Id="Re05c698d8a1949e4" /><Relationship Type="http://schemas.openxmlformats.org/officeDocument/2006/relationships/officeDocument" Target="/ppt/presentation.xml" Id="R4237e0b7e7e442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604b02a10e4411"/>
  </p:sldMasterIdLst>
  <p:notesMasterIdLst>
    <p:notesMasterId xmlns:r="http://schemas.openxmlformats.org/officeDocument/2006/relationships" r:id="R95ba7e9795a24a01"/>
  </p:notesMasterIdLst>
  <p:sldIdLst>
    <p:sldId xmlns:r="http://schemas.openxmlformats.org/officeDocument/2006/relationships" id="256" r:id="R2fb3b3a64c7842d3"/>
    <p:sldId xmlns:r="http://schemas.openxmlformats.org/officeDocument/2006/relationships" id="257" r:id="Ra757077f6a2a4dfe"/>
    <p:sldId xmlns:r="http://schemas.openxmlformats.org/officeDocument/2006/relationships" id="258" r:id="R31a593141b0c4ce2"/>
    <p:sldId xmlns:r="http://schemas.openxmlformats.org/officeDocument/2006/relationships" id="259" r:id="R4f188bbdb14e456d"/>
    <p:sldId xmlns:r="http://schemas.openxmlformats.org/officeDocument/2006/relationships" id="260" r:id="R553ddbc9fba0448f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0b8d0ac16c4456" /><Relationship Type="http://schemas.openxmlformats.org/officeDocument/2006/relationships/slideMaster" Target="/ppt/slideMasters/slideMaster1.xml" Id="R3a604b02a10e4411" /><Relationship Type="http://schemas.openxmlformats.org/officeDocument/2006/relationships/notesMaster" Target="/ppt/notesMasters/notesMaster1.xml" Id="R95ba7e9795a24a01" /><Relationship Type="http://schemas.openxmlformats.org/officeDocument/2006/relationships/presProps" Target="/ppt/presProps.xml" Id="R4ff0504f4d094aeb" /><Relationship Type="http://schemas.openxmlformats.org/officeDocument/2006/relationships/tableStyles" Target="/ppt/tableStyles.xml" Id="Rcaf2896ca8e14d2c" /><Relationship Type="http://schemas.openxmlformats.org/officeDocument/2006/relationships/slide" Target="/ppt/slides/slide1.xml" Id="R2fb3b3a64c7842d3" /><Relationship Type="http://schemas.openxmlformats.org/officeDocument/2006/relationships/slide" Target="/ppt/slides/slide2.xml" Id="Ra757077f6a2a4dfe" /><Relationship Type="http://schemas.openxmlformats.org/officeDocument/2006/relationships/slide" Target="/ppt/slides/slide3.xml" Id="R31a593141b0c4ce2" /><Relationship Type="http://schemas.openxmlformats.org/officeDocument/2006/relationships/slide" Target="/ppt/slides/slide4.xml" Id="R4f188bbdb14e456d" /><Relationship Type="http://schemas.openxmlformats.org/officeDocument/2006/relationships/slide" Target="/ppt/slides/slide5.xml" Id="R553ddbc9fba044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4ebea9761d4e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e2405014e44fb8" /><Relationship Type="http://schemas.openxmlformats.org/officeDocument/2006/relationships/notesMaster" Target="/ppt/notesMasters/notesMaster1.xml" Id="R39af5d59f3a84b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aa126808e4437e" /><Relationship Type="http://schemas.openxmlformats.org/officeDocument/2006/relationships/notesMaster" Target="/ppt/notesMasters/notesMaster1.xml" Id="Rcbeda3ba2e7f44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c7152051ef4f21" /><Relationship Type="http://schemas.openxmlformats.org/officeDocument/2006/relationships/notesMaster" Target="/ppt/notesMasters/notesMaster1.xml" Id="R4eae4fd3faca45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220e9543c441a5" /><Relationship Type="http://schemas.openxmlformats.org/officeDocument/2006/relationships/notesMaster" Target="/ppt/notesMasters/notesMaster1.xml" Id="Ra3f8126b8d9145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9f44b2722647fe" /><Relationship Type="http://schemas.openxmlformats.org/officeDocument/2006/relationships/notesMaster" Target="/ppt/notesMasters/notesMaster1.xml" Id="Ra6659dd84ecc4d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7d77913f6042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f0c89c73f04022" /><Relationship Type="http://schemas.openxmlformats.org/officeDocument/2006/relationships/slideLayout" Target="/ppt/slideLayouts/slideLayout1.xml" Id="R19cd7e8bae9d46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cd7e8bae9d46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15238a1a74b91" /><Relationship Type="http://schemas.openxmlformats.org/officeDocument/2006/relationships/image" Target="/ppt/media/image.jpeg" Id="Rfc5d7018d48c407e" /><Relationship Type="http://schemas.openxmlformats.org/officeDocument/2006/relationships/image" Target="/ppt/media/image2.jpeg" Id="R2b3ac9e5b4b143dd" /><Relationship Type="http://schemas.openxmlformats.org/officeDocument/2006/relationships/notesSlide" Target="/ppt/notesSlides/notesSlide1.xml" Id="Rcea245e2d2f242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abcef96b04222" /><Relationship Type="http://schemas.openxmlformats.org/officeDocument/2006/relationships/image" Target="/ppt/media/image3.jpeg" Id="R775831994c6d48b9" /><Relationship Type="http://schemas.openxmlformats.org/officeDocument/2006/relationships/notesSlide" Target="/ppt/notesSlides/notesSlide2.xml" Id="R4828f0a7726a4d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3eb550f0e4b2a" /><Relationship Type="http://schemas.openxmlformats.org/officeDocument/2006/relationships/image" Target="/ppt/media/image4.jpeg" Id="Ra685e934fdc34073" /><Relationship Type="http://schemas.openxmlformats.org/officeDocument/2006/relationships/notesSlide" Target="/ppt/notesSlides/notesSlide3.xml" Id="Rb3a33d835e3342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0b66a44a044f0" /><Relationship Type="http://schemas.openxmlformats.org/officeDocument/2006/relationships/notesSlide" Target="/ppt/notesSlides/notesSlide4.xml" Id="Rcae11e9029a44c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88c9f0b0a4f7f" /><Relationship Type="http://schemas.openxmlformats.org/officeDocument/2006/relationships/notesSlide" Target="/ppt/notesSlides/notesSlide5.xml" Id="R2eb62a88aebe4e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F9B9C9-45B0-48FF-B388-718B691C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333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40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7AAA1-D235-4B68-9408-D9EB4A73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04950"/>
            <a:ext cx="1257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05B88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005B88"/>
                </a:solidFill>
                <a:latin typeface="Calibri"/>
                <a:ea typeface="Calibri"/>
                <a:cs typeface="Calibri"/>
              </a:rPr>
              <a:t>Plant disease classification under controlled and field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2B1E0-DFD4-4A53-B728-C434A7A0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304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26164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526164"/>
                </a:solidFill>
                <a:latin typeface="Calibri"/>
                <a:ea typeface="Calibri"/>
                <a:cs typeface="Calibri"/>
              </a:rPr>
              <a:t>PlantVillage contains single, centered leaves on uniform backgrounds.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B93C6-1538-493C-8E5B-881266BE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304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26164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526164"/>
                </a:solidFill>
                <a:latin typeface="Calibri"/>
                <a:ea typeface="Calibri"/>
                <a:cs typeface="Calibri"/>
              </a:rPr>
              <a:t>Field photographs include clutter, multiple leaves, occlusion, scale changes and variable illumination.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014EE-2370-4CEE-8F0F-2351FD8C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1304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The project evaluates whether models trained on controlled images remain reliable under these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54FD1-37B3-474A-B9EF-DA0F0F11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47785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47785B"/>
                </a:solidFill>
                <a:latin typeface="Calibri"/>
                <a:ea typeface="Calibri"/>
                <a:cs typeface="Calibri"/>
              </a:rPr>
              <a:t>PLANTVILLAGE</a:t>
            </a:r>
          </a:p>
          <a:p xmlns:a="http://schemas.openxmlformats.org/drawingml/2006/main">
            <a:pPr algn="ctr">
              <a:buNone/>
              <a:defRPr sz="1425" b="1" i="0">
                <a:solidFill>
                  <a:srgbClr val="47785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47785B"/>
                </a:solidFill>
                <a:latin typeface="Calibri"/>
                <a:ea typeface="Calibri"/>
                <a:cs typeface="Calibri"/>
              </a:rPr>
              <a:t>CONTROLLED IMAGE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d7018d48c407e"/>
          <a:stretch xmlns:a="http://schemas.openxmlformats.org/drawingml/2006/main"/>
        </p:blipFill>
        <p:spPr>
          <a:xfrm xmlns:a="http://schemas.openxmlformats.org/drawingml/2006/main">
            <a:off x="2000250" y="4667250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B98AE-52E8-4F29-9224-506661CC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857875"/>
            <a:ext cx="11430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B88"/>
          </a:solidFill>
          <a:ln xmlns:a="http://schemas.openxmlformats.org/drawingml/2006/main" w="9525">
            <a:solidFill>
              <a:srgbClr val="005B8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6E470-3505-4FAA-9AD8-13CE5159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195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A9483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A9483B"/>
                </a:solidFill>
                <a:latin typeface="Calibri"/>
                <a:ea typeface="Calibri"/>
                <a:cs typeface="Calibri"/>
              </a:rPr>
              <a:t>PLANTDOC</a:t>
            </a:r>
          </a:p>
          <a:p xmlns:a="http://schemas.openxmlformats.org/drawingml/2006/main">
            <a:pPr algn="ctr">
              <a:buNone/>
              <a:defRPr sz="1425" b="1" i="0">
                <a:solidFill>
                  <a:srgbClr val="A9483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A9483B"/>
                </a:solidFill>
                <a:latin typeface="Calibri"/>
                <a:ea typeface="Calibri"/>
                <a:cs typeface="Calibri"/>
              </a:rPr>
              <a:t>FIELD IMAGE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3ac9e5b4b143dd"/>
          <a:srcRect xmlns:a="http://schemas.openxmlformats.org/drawingml/2006/main" l="8000" t="0" r="8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0" y="4667250"/>
            <a:ext cx="457200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DBBEC-496C-4D1C-A589-2BAC18D8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58150"/>
            <a:ext cx="1524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88"/>
          </a:solidFill>
          <a:ln xmlns:a="http://schemas.openxmlformats.org/drawingml/2006/main" w="14288">
            <a:solidFill>
              <a:srgbClr val="005B8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9736C-19BD-4462-B6B0-E1DD1ED4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8153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C9626-9421-4BD6-BFCF-A119E2F8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2296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 i="0">
                <a:solidFill>
                  <a:srgbClr val="005B88"/>
                </a:solidFill>
                <a:latin typeface="Calibri"/>
                <a:ea typeface="Calibri"/>
                <a:cs typeface="Calibri"/>
              </a:defRPr>
            </a:pPr>
            <a:r>
              <a:rPr sz="750" b="1" i="0">
                <a:solidFill>
                  <a:srgbClr val="005B88"/>
                </a:solidFill>
                <a:latin typeface="Calibri"/>
                <a:ea typeface="Calibri"/>
                <a:cs typeface="Calibri"/>
              </a:rPr>
              <a:t>UNIPI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E3321-9BFB-4AC5-9F3D-53D679E3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1438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Plant Disease Assistant  |  Intelligent Systems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CEFDB-9CF8-4DC4-83D1-8F074031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8153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74967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33C86B-ADEE-42E8-A4D3-5E7AAA24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333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40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Machine Learning Tasks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831994c6d48b9"/>
          <a:stretch xmlns:a="http://schemas.openxmlformats.org/drawingml/2006/main"/>
        </p:blipFill>
        <p:spPr>
          <a:xfrm xmlns:a="http://schemas.openxmlformats.org/drawingml/2006/main">
            <a:off x="833438" y="3105150"/>
            <a:ext cx="2143125" cy="2143125"/>
          </a:xfrm>
          <a:prstGeom xmlns:a="http://schemas.openxmlformats.org/drawingml/2006/main" prst="roundRect">
            <a:avLst>
              <a:gd name="adj" fmla="val 3556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3C56B-7241-4041-BB27-8F43D721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526164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526164"/>
                </a:solidFill>
                <a:latin typeface="Calibri"/>
                <a:ea typeface="Calibri"/>
                <a:cs typeface="Calibri"/>
              </a:rPr>
              <a:t>INPUT</a:t>
            </a:r>
          </a:p>
          <a:p xmlns:a="http://schemas.openxmlformats.org/drawingml/2006/main">
            <a:pPr algn="ctr">
              <a:buNone/>
              <a:defRPr sz="1425" b="1" i="0">
                <a:solidFill>
                  <a:srgbClr val="526164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526164"/>
                </a:solidFill>
                <a:latin typeface="Calibri"/>
                <a:ea typeface="Calibri"/>
                <a:cs typeface="Calibri"/>
              </a:rPr>
              <a:t>LEAF IMAGE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283FD-5809-4642-A4D4-762EC2E8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10000"/>
            <a:ext cx="809625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B88"/>
          </a:solidFill>
          <a:ln xmlns:a="http://schemas.openxmlformats.org/drawingml/2006/main" w="9525">
            <a:solidFill>
              <a:srgbClr val="005B8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56548-73A4-45EE-BC76-73274D87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57500"/>
            <a:ext cx="2619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AF2EA"/>
          </a:solidFill>
          <a:ln xmlns:a="http://schemas.openxmlformats.org/drawingml/2006/main" w="14288">
            <a:solidFill>
              <a:srgbClr val="4778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EC7BC-E30E-43E3-96DB-D88473B3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28950"/>
            <a:ext cx="2390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47785B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7785B"/>
                </a:solidFill>
                <a:latin typeface="Calibri"/>
                <a:ea typeface="Calibri"/>
                <a:cs typeface="Calibri"/>
              </a:rPr>
              <a:t>1  CLASSIFICATION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70122-AE07-4342-84D9-AA30675B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733800"/>
            <a:ext cx="23526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Predict the crop and disease class with a CNN classifier.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FE8E3-D648-4EDA-8E4E-2B3F0F1F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10000"/>
            <a:ext cx="809625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B88"/>
          </a:solidFill>
          <a:ln xmlns:a="http://schemas.openxmlformats.org/drawingml/2006/main" w="9525">
            <a:solidFill>
              <a:srgbClr val="005B8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20396-AD96-41F0-A812-E5C48E0A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2619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14288">
            <a:solidFill>
              <a:srgbClr val="005B8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2D328-E308-47C4-9A70-5D01EF5C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028950"/>
            <a:ext cx="2390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005B88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005B88"/>
                </a:solidFill>
                <a:latin typeface="Calibri"/>
                <a:ea typeface="Calibri"/>
                <a:cs typeface="Calibri"/>
              </a:rPr>
              <a:t>2  LOCALIZATION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E4D92-2A5E-422D-85E3-CCA1CD0E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733800"/>
            <a:ext cx="23526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Use YOLO detections and Grad-CAM activation maps to locate relevant image regions.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4A03E-FF4D-4DEC-B22F-ECA08366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810000"/>
            <a:ext cx="809625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B88"/>
          </a:solidFill>
          <a:ln xmlns:a="http://schemas.openxmlformats.org/drawingml/2006/main" w="9525">
            <a:solidFill>
              <a:srgbClr val="005B8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BC4DC-5406-496F-A153-A004D7F4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2857500"/>
            <a:ext cx="233362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AF0DE"/>
          </a:solidFill>
          <a:ln xmlns:a="http://schemas.openxmlformats.org/drawingml/2006/main" w="14288">
            <a:solidFill>
              <a:srgbClr val="C88B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DE61B-AD7E-41D2-B474-DFCE80EF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3028950"/>
            <a:ext cx="2105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C88B2A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C88B2A"/>
                </a:solidFill>
                <a:latin typeface="Calibri"/>
                <a:ea typeface="Calibri"/>
                <a:cs typeface="Calibri"/>
              </a:rPr>
              <a:t>3  ROBUSTNESS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9FFCA-3FAE-4A30-B266-6AE21DA4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725" y="3733800"/>
            <a:ext cx="20669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Measure performance and confidence under synthetic corruptions and field images.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3CB1F-9BB6-4A7C-9772-41753429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10250"/>
            <a:ext cx="1028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D2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44292A-77D0-4D21-82B1-2D4741C7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17220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The three tasks are evaluated separately and combined in the final prototype.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8A5E0-E25E-4012-9CC9-7F874B94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58150"/>
            <a:ext cx="1524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88"/>
          </a:solidFill>
          <a:ln xmlns:a="http://schemas.openxmlformats.org/drawingml/2006/main" w="14288">
            <a:solidFill>
              <a:srgbClr val="005B8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E1DD1A-5258-4331-AFA6-4A371A8B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8153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DC4316-40CE-49AD-A6BD-D1D4CC06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2296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 i="0">
                <a:solidFill>
                  <a:srgbClr val="005B88"/>
                </a:solidFill>
                <a:latin typeface="Calibri"/>
                <a:ea typeface="Calibri"/>
                <a:cs typeface="Calibri"/>
              </a:defRPr>
            </a:pPr>
            <a:r>
              <a:rPr sz="750" b="1" i="0">
                <a:solidFill>
                  <a:srgbClr val="005B88"/>
                </a:solidFill>
                <a:latin typeface="Calibri"/>
                <a:ea typeface="Calibri"/>
                <a:cs typeface="Calibri"/>
              </a:rPr>
              <a:t>UNIPI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B3FE8A-2F69-40C6-BA57-E77F66A1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1438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Plant Disease Assistant  |  Intelligent Systems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606DBB-F964-4650-B5C4-3AD60DC9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8153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590421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673FCF-A42F-4C6D-8DD7-59E78D03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333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40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Datasets and Preliminary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1EC7E-43BD-43E2-A791-FE77A2B9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71625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005B88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005B88"/>
                </a:solidFill>
                <a:latin typeface="Calibri"/>
                <a:ea typeface="Calibri"/>
                <a:cs typeface="Calibri"/>
              </a:rPr>
              <a:t>PlantVillage is used for classification; PlantDoc for localization and external evaluation.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BE702-A136-41F1-97F1-E7FC3E0F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526164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526164"/>
                </a:solidFill>
                <a:latin typeface="Calibri"/>
                <a:ea typeface="Calibri"/>
                <a:cs typeface="Calibri"/>
              </a:rPr>
              <a:t>The datasets require duplicate removal, bounding-box validation and a shared label taxonomy.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7BD3F-543D-4F6F-8C83-84D13EE4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47785B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47785B"/>
                </a:solidFill>
                <a:latin typeface="Calibri"/>
                <a:ea typeface="Calibri"/>
                <a:cs typeface="Calibri"/>
              </a:rPr>
              <a:t>PLANTVILLAGE</a:t>
            </a:r>
          </a:p>
          <a:p xmlns:a="http://schemas.openxmlformats.org/drawingml/2006/main">
            <a:pPr algn="l">
              <a:buNone/>
              <a:defRPr sz="1650" b="1" i="0">
                <a:solidFill>
                  <a:srgbClr val="47785B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47785B"/>
                </a:solidFill>
                <a:latin typeface="Calibri"/>
                <a:ea typeface="Calibri"/>
                <a:cs typeface="Calibri"/>
              </a:rPr>
              <a:t>54,305 images | 38 classes</a:t>
            </a:r>
          </a:p>
          <a:p xmlns:a="http://schemas.openxmlformats.org/drawingml/2006/main">
            <a:pPr algn="l">
              <a:buNone/>
              <a:defRPr sz="1650" b="1" i="0">
                <a:solidFill>
                  <a:srgbClr val="47785B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47785B"/>
                </a:solidFill>
                <a:latin typeface="Calibri"/>
                <a:ea typeface="Calibri"/>
                <a:cs typeface="Calibri"/>
              </a:rPr>
              <a:t>Main classifier training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67441-6192-41F3-AEF5-8B550E18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33875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A9483B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A9483B"/>
                </a:solidFill>
                <a:latin typeface="Calibri"/>
                <a:ea typeface="Calibri"/>
                <a:cs typeface="Calibri"/>
              </a:rPr>
              <a:t>PLANTDOC</a:t>
            </a:r>
          </a:p>
          <a:p xmlns:a="http://schemas.openxmlformats.org/drawingml/2006/main">
            <a:pPr algn="l">
              <a:buNone/>
              <a:defRPr sz="1650" b="1" i="0">
                <a:solidFill>
                  <a:srgbClr val="A9483B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A9483B"/>
                </a:solidFill>
                <a:latin typeface="Calibri"/>
                <a:ea typeface="Calibri"/>
                <a:cs typeface="Calibri"/>
              </a:rPr>
              <a:t>2,578 field images | 8,910 boxes</a:t>
            </a:r>
          </a:p>
          <a:p xmlns:a="http://schemas.openxmlformats.org/drawingml/2006/main">
            <a:pPr algn="l">
              <a:buNone/>
              <a:defRPr sz="1650" b="1" i="0">
                <a:solidFill>
                  <a:srgbClr val="A9483B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A9483B"/>
                </a:solidFill>
                <a:latin typeface="Calibri"/>
                <a:ea typeface="Calibri"/>
                <a:cs typeface="Calibri"/>
              </a:rPr>
              <a:t>YOLO + field robustness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AA3A6-1BF0-4899-BCFA-EFC85ADF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DATA PREPARATION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Remove cross-split duplicates and repair invalid boxes.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A29ED-BD60-4D9B-97EA-57761146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43625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LABEL MAPPING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Evaluate only crop-disease classes shared by both datasets.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5e934fdc34073"/>
          <a:stretch xmlns:a="http://schemas.openxmlformats.org/drawingml/2006/main"/>
        </p:blipFill>
        <p:spPr>
          <a:xfrm xmlns:a="http://schemas.openxmlformats.org/drawingml/2006/main">
            <a:off x="8040221" y="1952625"/>
            <a:ext cx="5827059" cy="4953000"/>
          </a:xfrm>
          <a:prstGeom xmlns:a="http://schemas.openxmlformats.org/drawingml/2006/main" prst="roundRect">
            <a:avLst>
              <a:gd name="adj" fmla="val 15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7694E-6768-4D4C-949A-AC420C26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7000875"/>
            <a:ext cx="5810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5B8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53697-D215-406A-9DE0-8AFFEED9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12470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05B88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005B88"/>
                </a:solidFill>
                <a:latin typeface="Calibri"/>
                <a:ea typeface="Calibri"/>
                <a:cs typeface="Calibri"/>
              </a:rPr>
              <a:t>PlantDoc boxes often identify whole disease-labelled leaves, not pixel-level lesions.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10614-28B0-4124-BFD3-DF74582E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58150"/>
            <a:ext cx="1524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88"/>
          </a:solidFill>
          <a:ln xmlns:a="http://schemas.openxmlformats.org/drawingml/2006/main" w="14288">
            <a:solidFill>
              <a:srgbClr val="005B8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6FC1B7-A35B-4BAD-B60D-0F3EC7BD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8153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A63694-760D-4114-BB66-54ABB099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2296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 i="0">
                <a:solidFill>
                  <a:srgbClr val="005B88"/>
                </a:solidFill>
                <a:latin typeface="Calibri"/>
                <a:ea typeface="Calibri"/>
                <a:cs typeface="Calibri"/>
              </a:defRPr>
            </a:pPr>
            <a:r>
              <a:rPr sz="750" b="1" i="0">
                <a:solidFill>
                  <a:srgbClr val="005B88"/>
                </a:solidFill>
                <a:latin typeface="Calibri"/>
                <a:ea typeface="Calibri"/>
                <a:cs typeface="Calibri"/>
              </a:rPr>
              <a:t>UNIPI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B8FC8D-7BB3-4E74-BDE6-2CE74556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1438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Plant Disease Assistant  |  Intelligent Systems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B41E4-34CF-44A4-BA4E-80D284A8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8153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798935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091331-991B-4DB8-84C6-FE62EF7B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333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40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Models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30906-48B7-4088-BA7F-11CC6479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71625"/>
            <a:ext cx="1257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005B88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005B88"/>
                </a:solidFill>
                <a:latin typeface="Calibri"/>
                <a:ea typeface="Calibri"/>
                <a:cs typeface="Calibri"/>
              </a:rPr>
              <a:t>The models are selected according to the classification and localization tasks.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D74AE-D3B6-465A-871A-FF398F04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88"/>
          </a:solidFill>
          <a:ln xmlns:a="http://schemas.openxmlformats.org/drawingml/2006/main" w="14288">
            <a:solidFill>
              <a:srgbClr val="005B8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39654-05FC-4359-AD3D-1D016E8B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1A35D-4DE6-493C-8853-5434F862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88"/>
          </a:solidFill>
          <a:ln xmlns:a="http://schemas.openxmlformats.org/drawingml/2006/main" w="14288">
            <a:solidFill>
              <a:srgbClr val="005B8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A1D66-F085-4FE6-8287-41257E4B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09800"/>
            <a:ext cx="596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D1291-6466-4E02-B9EF-78EA01BC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4191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88"/>
          </a:solidFill>
          <a:ln xmlns:a="http://schemas.openxmlformats.org/drawingml/2006/main" w="14288">
            <a:solidFill>
              <a:srgbClr val="005B8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046D7-BB35-4487-A510-C45B5B65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09800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IN THE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EE8FC-4E37-4E43-BE56-B8A966DB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A"/>
          </a:solidFill>
          <a:ln xmlns:a="http://schemas.openxmlformats.org/drawingml/2006/main" w="14288">
            <a:solidFill>
              <a:srgbClr val="C7D2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AD083-DA9C-44DC-968A-8D9BF670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38450"/>
            <a:ext cx="2647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Baseline CNN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7FAB87-6536-414A-9F8B-CC7FCC8F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619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A"/>
          </a:solidFill>
          <a:ln xmlns:a="http://schemas.openxmlformats.org/drawingml/2006/main" w="14288">
            <a:solidFill>
              <a:srgbClr val="C7D2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42039-32BD-445B-9363-E0B2479B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38450"/>
            <a:ext cx="5886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Train from scratch on PlantVillage.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9EB35-1782-4FB1-BDBC-FA774FBA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28900"/>
            <a:ext cx="4191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A"/>
          </a:solidFill>
          <a:ln xmlns:a="http://schemas.openxmlformats.org/drawingml/2006/main" w="14288">
            <a:solidFill>
              <a:srgbClr val="C7D2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5EEB6-2998-4311-8EE2-D10E0A64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838450"/>
            <a:ext cx="3886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Reference model for classification performance.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0721E-A651-4D89-BF04-40F497C4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14288">
            <a:solidFill>
              <a:srgbClr val="C7D2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E1D823-449B-467B-8FD4-ACDBDC02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62400"/>
            <a:ext cx="2647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EfficientNetB0</a:t>
            </a:r>
          </a:p>
          <a:p xmlns:a="http://schemas.openxmlformats.org/drawingml/2006/main">
            <a:pPr algn="ctr">
              <a:buNone/>
              <a:def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MobileNetV2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2071A-10B0-425C-B2BC-5AD88277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52850"/>
            <a:ext cx="619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14288">
            <a:solidFill>
              <a:srgbClr val="C7D2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2CBFEE-B195-48F2-B580-0B0258B7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62400"/>
            <a:ext cx="5886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Initialize with ImageNet weights, then fine-tune on PlantVillage.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4C4B36-C111-48B2-B39F-F82B1557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52850"/>
            <a:ext cx="4191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14288">
            <a:solidFill>
              <a:srgbClr val="C7D2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2D0368-BF9D-4397-9E0B-586E3F46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962400"/>
            <a:ext cx="3886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Compare macro F1, model size and inference time.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CA7794-C71A-48F4-A92B-38D888C2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E"/>
          </a:solidFill>
          <a:ln xmlns:a="http://schemas.openxmlformats.org/drawingml/2006/main" w="14288">
            <a:solidFill>
              <a:srgbClr val="C7D2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9F73AD-8763-4058-9901-4C1C19EA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86350"/>
            <a:ext cx="2647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YOLO</a:t>
            </a:r>
          </a:p>
          <a:p xmlns:a="http://schemas.openxmlformats.org/drawingml/2006/main">
            <a:pPr algn="ctr">
              <a:buNone/>
              <a:def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Grad-CAM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81D09F-CA21-4E94-BE9C-0AE1AA0D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76800"/>
            <a:ext cx="619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E"/>
          </a:solidFill>
          <a:ln xmlns:a="http://schemas.openxmlformats.org/drawingml/2006/main" w="14288">
            <a:solidFill>
              <a:srgbClr val="C7D2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37D6A5-91EB-4F1B-80D4-89123C18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86350"/>
            <a:ext cx="5886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Train YOLO on PlantDoc boxes; compute Grad-CAM from the classifiers.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EE2AA3-44E3-40B9-A831-E800FA9A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76800"/>
            <a:ext cx="4191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E"/>
          </a:solidFill>
          <a:ln xmlns:a="http://schemas.openxmlformats.org/drawingml/2006/main" w="14288">
            <a:solidFill>
              <a:srgbClr val="C7D2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02412C-CE59-49B6-87DD-D4F63D73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086350"/>
            <a:ext cx="3886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Leaf detection and visualization of classifier activation regions.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69AE51-74DF-4313-96BC-567A010C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58150"/>
            <a:ext cx="1524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88"/>
          </a:solidFill>
          <a:ln xmlns:a="http://schemas.openxmlformats.org/drawingml/2006/main" w="14288">
            <a:solidFill>
              <a:srgbClr val="005B8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4F3767-EBD7-4AA6-8360-A2006FC4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8153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770679-E038-4BE4-B81C-0D66C69F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2296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 i="0">
                <a:solidFill>
                  <a:srgbClr val="005B88"/>
                </a:solidFill>
                <a:latin typeface="Calibri"/>
                <a:ea typeface="Calibri"/>
                <a:cs typeface="Calibri"/>
              </a:defRPr>
            </a:pPr>
            <a:r>
              <a:rPr sz="750" b="1" i="0">
                <a:solidFill>
                  <a:srgbClr val="005B88"/>
                </a:solidFill>
                <a:latin typeface="Calibri"/>
                <a:ea typeface="Calibri"/>
                <a:cs typeface="Calibri"/>
              </a:rPr>
              <a:t>UNIPI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960AD4-47EE-4BE7-929A-1309B921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1438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Plant Disease Assistant  |  Intelligent Systems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A9DBC5-74F7-4EEB-90D1-EE814D90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8153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377006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35F047-91A2-4A24-9562-860B87AA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333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40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Experimental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64924-0B64-4C75-8082-CE18ACB6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7715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EA"/>
          </a:solidFill>
          <a:ln xmlns:a="http://schemas.openxmlformats.org/drawingml/2006/main" w="14288">
            <a:solidFill>
              <a:srgbClr val="4778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479DB-FA25-41F7-BB4F-382543CA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71750"/>
            <a:ext cx="40957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14288">
            <a:solidFill>
              <a:srgbClr val="005B8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9FACE-11C6-441A-AAB6-0F5DC08F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955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47785B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47785B"/>
                </a:solidFill>
                <a:latin typeface="Calibri"/>
                <a:ea typeface="Calibri"/>
                <a:cs typeface="Calibri"/>
              </a:rPr>
              <a:t>TRAINING AND MODEL SELECTION: PLANTVILLAGE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6AB97-3923-4A91-AB60-841D27B2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955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005B88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005B88"/>
                </a:solidFill>
                <a:latin typeface="Calibri"/>
                <a:ea typeface="Calibri"/>
                <a:cs typeface="Calibri"/>
              </a:rPr>
              <a:t>TEST SETS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AFE66-9E39-43F7-8A1E-10F7CEC7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1381125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EA"/>
          </a:solidFill>
          <a:ln xmlns:a="http://schemas.openxmlformats.org/drawingml/2006/main" w="14288">
            <a:solidFill>
              <a:srgbClr val="4778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1C5FC-28D5-4EC0-89A2-F22A95B9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48100"/>
            <a:ext cx="1228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47785B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47785B"/>
                </a:solidFill>
                <a:latin typeface="Calibri"/>
                <a:ea typeface="Calibri"/>
                <a:cs typeface="Calibri"/>
              </a:rPr>
              <a:t>CLEAN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C5C7D-5D06-4C94-A533-A6A14572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14750"/>
            <a:ext cx="1381125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14288">
            <a:solidFill>
              <a:srgbClr val="005B8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2DD2E-50CE-459A-9C27-FAF84C16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848100"/>
            <a:ext cx="1228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05B88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005B88"/>
                </a:solidFill>
                <a:latin typeface="Calibri"/>
                <a:ea typeface="Calibri"/>
                <a:cs typeface="Calibri"/>
              </a:rPr>
              <a:t>BLUR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F0816-2E03-4CBD-9806-4E92C7B7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14750"/>
            <a:ext cx="1381125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0DE"/>
          </a:solidFill>
          <a:ln xmlns:a="http://schemas.openxmlformats.org/drawingml/2006/main" w="14288">
            <a:solidFill>
              <a:srgbClr val="C88B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F7175-4B12-41B4-99EA-0C0514F1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48100"/>
            <a:ext cx="1228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C88B2A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C88B2A"/>
                </a:solidFill>
                <a:latin typeface="Calibri"/>
                <a:ea typeface="Calibri"/>
                <a:cs typeface="Calibri"/>
              </a:rPr>
              <a:t>LIGHT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27B1E-2423-4421-AB44-D298A084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14750"/>
            <a:ext cx="1381125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E9E6"/>
          </a:solidFill>
          <a:ln xmlns:a="http://schemas.openxmlformats.org/drawingml/2006/main" w="14288">
            <a:solidFill>
              <a:srgbClr val="A948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1D77FD-7D07-4ECA-A751-F09B673F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48100"/>
            <a:ext cx="1228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A9483B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A9483B"/>
                </a:solidFill>
                <a:latin typeface="Calibri"/>
                <a:ea typeface="Calibri"/>
                <a:cs typeface="Calibri"/>
              </a:rPr>
              <a:t>JPEG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F41819-7776-46B7-9BA1-205E8073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29050"/>
            <a:ext cx="7620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B88"/>
          </a:solidFill>
          <a:ln xmlns:a="http://schemas.openxmlformats.org/drawingml/2006/main" w="9525">
            <a:solidFill>
              <a:srgbClr val="005B8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7DF97-558C-42DD-85FC-17BC21FE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7147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Macro F1 + recall</a:t>
            </a:r>
          </a:p>
          <a:p xmlns:a="http://schemas.openxmlformats.org/drawingml/2006/main">
            <a:pPr algn="ctr">
              <a:buNone/>
              <a:def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confidence + calibration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84A3FC-7982-453D-97EC-AA5390B1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Robustness evaluation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AD5B19-EFA2-4A00-BA6D-216D2B3F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9115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26164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526164"/>
                </a:solidFill>
                <a:latin typeface="Calibri"/>
                <a:ea typeface="Calibri"/>
                <a:cs typeface="Calibri"/>
              </a:rPr>
              <a:t>1. Apply each corruption at several severity levels to the same clean test images.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FD5FA1-5570-4C71-9760-4CDC2D4D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2930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26164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526164"/>
                </a:solidFill>
                <a:latin typeface="Calibri"/>
                <a:ea typeface="Calibri"/>
                <a:cs typeface="Calibri"/>
              </a:rPr>
              <a:t>2. Evaluate taxonomy-matched PlantDoc crops as the real field-domain test.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8F505-D0F8-4017-A9BE-95201D06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6745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26164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526164"/>
                </a:solidFill>
                <a:latin typeface="Calibri"/>
                <a:ea typeface="Calibri"/>
                <a:cs typeface="Calibri"/>
              </a:rPr>
              <a:t>3. Compare the baseline CNN, EfficientNetB0 and MobileNetV2 under identical shifts.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F4B30C-9C26-400B-ADA8-11017348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577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Data preparation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6862C2-4668-4F06-90D9-0F911E0B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4292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26164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526164"/>
                </a:solidFill>
                <a:latin typeface="Calibri"/>
                <a:ea typeface="Calibri"/>
                <a:cs typeface="Calibri"/>
              </a:rPr>
              <a:t>Remove train/test duplicates and repair invalid PlantDoc boxes.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53ECDC-20E6-4491-BABC-0F241DAE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21030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26164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526164"/>
                </a:solidFill>
                <a:latin typeface="Calibri"/>
                <a:ea typeface="Calibri"/>
                <a:cs typeface="Calibri"/>
              </a:rPr>
              <a:t>Record corruption type and severity instead of using a single standard/non-standard label.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1CCAB-DDC7-4EBF-943C-0E39E821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3342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005B88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005B88"/>
                </a:solidFill>
                <a:latin typeface="Calibri"/>
                <a:ea typeface="Calibri"/>
                <a:cs typeface="Calibri"/>
              </a:rPr>
              <a:t>Prototype output: disease class, confidence, Grad-CAM map and optional YOLO detections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565448-CA13-4AB3-B2BC-32C9592A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58150"/>
            <a:ext cx="1524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88"/>
          </a:solidFill>
          <a:ln xmlns:a="http://schemas.openxmlformats.org/drawingml/2006/main" w="14288">
            <a:solidFill>
              <a:srgbClr val="005B8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889635-F180-460F-AD13-E0327C8A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8153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C30C32-3DBF-48F2-BF24-54615DDA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2296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 i="0">
                <a:solidFill>
                  <a:srgbClr val="005B88"/>
                </a:solidFill>
                <a:latin typeface="Calibri"/>
                <a:ea typeface="Calibri"/>
                <a:cs typeface="Calibri"/>
              </a:defRPr>
            </a:pPr>
            <a:r>
              <a:rPr sz="750" b="1" i="0">
                <a:solidFill>
                  <a:srgbClr val="005B88"/>
                </a:solidFill>
                <a:latin typeface="Calibri"/>
                <a:ea typeface="Calibri"/>
                <a:cs typeface="Calibri"/>
              </a:rPr>
              <a:t>UNIPI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4484DC-F01D-4EF9-80F7-8B45FD52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1438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Plant Disease Assistant  |  Intelligent Systems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105B71-F12C-476E-9DC6-445C1929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8153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46957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2026-07-10T11:03:02.8840000Z</dcterms:created>
  <dcterms:modified xsi:type="dcterms:W3CDTF">2026-07-10T11:03:02.8840000Z</dcterms:modified>
</coreProperties>
</file>